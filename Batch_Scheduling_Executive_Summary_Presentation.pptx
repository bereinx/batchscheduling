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5b933b3a9745ca" /><Relationship Type="http://schemas.openxmlformats.org/officeDocument/2006/relationships/extended-properties" Target="/docProps/app.xml" Id="Re1fc9a89dac6445d" /><Relationship Type="http://schemas.openxmlformats.org/officeDocument/2006/relationships/officeDocument" Target="/ppt/presentation.xml" Id="Re53908281fe744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172d0149af43ba"/>
  </p:sldMasterIdLst>
  <p:notesMasterIdLst>
    <p:notesMasterId xmlns:r="http://schemas.openxmlformats.org/officeDocument/2006/relationships" r:id="Rc7cd1b2164584aa3"/>
  </p:notesMasterIdLst>
  <p:sldIdLst>
    <p:sldId xmlns:r="http://schemas.openxmlformats.org/officeDocument/2006/relationships" id="256" r:id="R0f816d1dfe1f4cd3"/>
    <p:sldId xmlns:r="http://schemas.openxmlformats.org/officeDocument/2006/relationships" id="257" r:id="R21f90f4dd7b64f9a"/>
    <p:sldId xmlns:r="http://schemas.openxmlformats.org/officeDocument/2006/relationships" id="258" r:id="R8755a4b0e65641d3"/>
    <p:sldId xmlns:r="http://schemas.openxmlformats.org/officeDocument/2006/relationships" id="259" r:id="Rd2f05a29d4cd426f"/>
    <p:sldId xmlns:r="http://schemas.openxmlformats.org/officeDocument/2006/relationships" id="260" r:id="R9071e717fc84447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172d0149af43ba" /><Relationship Type="http://schemas.openxmlformats.org/officeDocument/2006/relationships/theme" Target="/ppt/theme/theme1.xml" Id="R8b3f07afb5444431" /><Relationship Type="http://schemas.openxmlformats.org/officeDocument/2006/relationships/notesMaster" Target="/ppt/notesMasters/notesMaster1.xml" Id="Rc7cd1b2164584aa3" /><Relationship Type="http://schemas.openxmlformats.org/officeDocument/2006/relationships/presProps" Target="/ppt/presProps.xml" Id="Rc6c7bb9c884e47bd" /><Relationship Type="http://schemas.openxmlformats.org/officeDocument/2006/relationships/viewProps" Target="/ppt/viewProps.xml" Id="R164241389e0b41db" /><Relationship Type="http://schemas.openxmlformats.org/officeDocument/2006/relationships/tableStyles" Target="/ppt/tableStyles.xml" Id="Re46e2c77896b4598" /><Relationship Type="http://schemas.openxmlformats.org/officeDocument/2006/relationships/slide" Target="/ppt/slides/slide1.xml" Id="R0f816d1dfe1f4cd3" /><Relationship Type="http://schemas.openxmlformats.org/officeDocument/2006/relationships/slide" Target="/ppt/slides/slide2.xml" Id="R21f90f4dd7b64f9a" /><Relationship Type="http://schemas.openxmlformats.org/officeDocument/2006/relationships/slide" Target="/ppt/slides/slide3.xml" Id="R8755a4b0e65641d3" /><Relationship Type="http://schemas.openxmlformats.org/officeDocument/2006/relationships/slide" Target="/ppt/slides/slide4.xml" Id="Rd2f05a29d4cd426f" /><Relationship Type="http://schemas.openxmlformats.org/officeDocument/2006/relationships/slide" Target="/ppt/slides/slide5.xml" Id="R9071e717fc8444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b41398606a64f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c0b679fdc44072" /><Relationship Type="http://schemas.openxmlformats.org/officeDocument/2006/relationships/notesMaster" Target="/ppt/notesMasters/notesMaster1.xml" Id="R69da8597eab245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afd02e7b4f446a" /><Relationship Type="http://schemas.openxmlformats.org/officeDocument/2006/relationships/notesMaster" Target="/ppt/notesMasters/notesMaster1.xml" Id="Rcb8cbbc6764c40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eed6fd240b4e36" /><Relationship Type="http://schemas.openxmlformats.org/officeDocument/2006/relationships/notesMaster" Target="/ppt/notesMasters/notesMaster1.xml" Id="R5c096c8c4bad41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48f716e11c49e8" /><Relationship Type="http://schemas.openxmlformats.org/officeDocument/2006/relationships/notesMaster" Target="/ppt/notesMasters/notesMaster1.xml" Id="Rdff6b6b1f51044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4ed164d9204078" /><Relationship Type="http://schemas.openxmlformats.org/officeDocument/2006/relationships/notesMaster" Target="/ppt/notesMasters/notesMaster1.xml" Id="R9063f0bd656340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737ded4c945e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DAC06718-CB7D-4E43-9610-4DEA95AB6BC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4C50677E-C9B0-41F7-A337-4942BECCB4A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825874-9237-48BC-8B5D-FAA346D8989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CB2167-157E-44F7-83F9-0C64B28123A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77825D-0196-4E30-BC6F-FC9598E8032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2ebfd884024456c" /><Relationship Type="http://schemas.openxmlformats.org/officeDocument/2006/relationships/slideLayout" Target="/ppt/slideLayouts/slideLayout2.xml" Id="R8734f09c5a0f4f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1D1D31-589C-4776-BF61-8A0FAC499C4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34f09c5a0f4f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909b3b90bd4c4a" /><Relationship Type="http://schemas.openxmlformats.org/officeDocument/2006/relationships/notesSlide" Target="/ppt/notesSlides/notesSlide1.xml" Id="Ref159d06db3c4b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d4bd35b51d4838" /><Relationship Type="http://schemas.openxmlformats.org/officeDocument/2006/relationships/notesSlide" Target="/ppt/notesSlides/notesSlide2.xml" Id="R3f541f7e770842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421efa69f04053" /><Relationship Type="http://schemas.openxmlformats.org/officeDocument/2006/relationships/notesSlide" Target="/ppt/notesSlides/notesSlide3.xml" Id="R3d5e3890b08b4f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261119dedc45ac" /><Relationship Type="http://schemas.openxmlformats.org/officeDocument/2006/relationships/notesSlide" Target="/ppt/notesSlides/notesSlide4.xml" Id="R82716ba02c4e44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24c8f929044b70" /><Relationship Type="http://schemas.openxmlformats.org/officeDocument/2006/relationships/notesSlide" Target="/ppt/notesSlides/notesSlide5.xml" Id="Rb274af08f65e47f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77825D-0196-4E30-BC6F-FC9598E80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D20ED-E724-4204-9E5E-C6E2A215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47859-8F35-4752-9564-F19596AB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5791200"/>
          </a:xfrm>
          <a:prstGeom xmlns:a="http://schemas.openxmlformats.org/drawingml/2006/main" prst="roundRect">
            <a:avLst>
              <a:gd name="adj" fmla="val 1316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2B209-840F-450A-81CC-406C7543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546"/>
                </a:solidFill>
              </a:defRPr>
            </a:pPr>
            <a:r>
              <a:rPr sz="2550" b="1">
                <a:solidFill>
                  <a:srgbClr val="183546"/>
                </a:solidFill>
              </a:rPr>
              <a:t>Refinery Batch Scheduling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77BF0-6928-46C5-9F61-A53F8BBA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771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7482"/>
                </a:solidFill>
              </a:defRPr>
            </a:pPr>
            <a:r>
              <a:rPr sz="1650" b="0">
                <a:solidFill>
                  <a:srgbClr val="5D7482"/>
                </a:solidFill>
              </a:rPr>
              <a:t>판매계획, 품질 스펙, 탱크 운용, 재고, deadstock를 동시에 고려하는 실무형 배합 스케줄링 지원 도구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5113F-669D-40A6-B6C8-A07E4856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3314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2F3E2-2A1A-40AD-B1F3-84C300EF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3314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93B64-C9E5-413E-AE29-A12B71DB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3314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9576C-0428-410D-BB1A-C2FAF1D9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546"/>
                </a:solidFill>
              </a:defRPr>
            </a:pPr>
            <a:r>
              <a:rPr sz="1650" b="1">
                <a:solidFill>
                  <a:srgbClr val="183546"/>
                </a:solidFill>
              </a:rPr>
              <a:t>Planning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C5BE1-AAD4-4BBE-A9F4-A0B5D6E5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266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Input Center와 Excel 업로드로 주문, 반제품, 탱크, 설정을 한 번에 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7A7A8-F302-403A-A958-CBBE6D0E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671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546"/>
                </a:solidFill>
              </a:defRPr>
            </a:pPr>
            <a:r>
              <a:rPr sz="1650" b="1">
                <a:solidFill>
                  <a:srgbClr val="183546"/>
                </a:solidFill>
              </a:rPr>
              <a:t>Scheduling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C5B49-DC2A-4493-BD77-0483F1C7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48100"/>
            <a:ext cx="266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MILP + 재시퀀싱 + deadstock + inventory repair로 현실적 일정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2A6E0-B9C8-4CCD-8D38-C3A4483D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671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546"/>
                </a:solidFill>
              </a:defRPr>
            </a:pPr>
            <a:r>
              <a:rPr sz="1650" b="1">
                <a:solidFill>
                  <a:srgbClr val="183546"/>
                </a:solidFill>
              </a:rPr>
              <a:t>Explainability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FFEEA-67E6-4162-880A-FDDD4B7F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48100"/>
            <a:ext cx="266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간트, 탱크 수위, 재고, 배치별 품질 비교까지 화면에서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5C5C6-801E-47EA-AA24-4C46DBF7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482"/>
                </a:solidFill>
              </a:defRPr>
            </a:pPr>
            <a:r>
              <a:rPr sz="900" b="0">
                <a:solidFill>
                  <a:srgbClr val="5D7482"/>
                </a:solidFill>
              </a:rPr>
              <a:t>Refinery Batch Scheduling | Executive 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F6BA8-6D00-437C-B9F4-4E79FF86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482"/>
                </a:solidFill>
              </a:defRPr>
            </a:pPr>
            <a:r>
              <a:rPr sz="900" b="0">
                <a:solidFill>
                  <a:srgbClr val="5D7482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062265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77825D-0196-4E30-BC6F-FC9598E80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ED9C8-817E-46D3-B47A-998643B7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AA2EA-E7DC-4098-A0F3-91B97C6F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8C3A7-7558-41F0-91A7-B5BC5C5D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86D"/>
                </a:solidFill>
              </a:defRPr>
            </a:pPr>
            <a:r>
              <a:rPr sz="1200" b="1">
                <a:solidFill>
                  <a:srgbClr val="31586D"/>
                </a:solidFill>
              </a:rPr>
              <a:t>Operational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0697A-1F2D-4763-8562-B4083554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546"/>
                </a:solidFill>
              </a:defRPr>
            </a:pPr>
            <a:r>
              <a:rPr sz="2250" b="1">
                <a:solidFill>
                  <a:srgbClr val="183546"/>
                </a:solidFill>
              </a:rPr>
              <a:t>왜 이 문제가 어려운가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BE479-0E67-48A1-A9D7-55DCB441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495300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43256-F0DE-4A85-938B-9302EAB1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546"/>
                </a:solidFill>
              </a:defRPr>
            </a:pPr>
            <a:r>
              <a:rPr sz="1800" b="1">
                <a:solidFill>
                  <a:srgbClr val="183546"/>
                </a:solidFill>
              </a:rPr>
              <a:t>운영 복잡성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64F06-866A-4A35-B106-3E36002B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41529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482"/>
                </a:solidFill>
              </a:defRPr>
            </a:pPr>
            <a:r>
              <a:rPr sz="1425" b="0">
                <a:solidFill>
                  <a:srgbClr val="5D7482"/>
                </a:solidFill>
              </a:rPr>
              <a:t>• 제품별 납기와 스펙이 다름</a:t>
            </a:r>
          </a:p>
          <a:p xmlns:a="http://schemas.openxmlformats.org/drawingml/2006/main">
            <a:pPr algn="l">
              <a:defRPr sz="1425" b="0">
                <a:solidFill>
                  <a:srgbClr val="5D7482"/>
                </a:solidFill>
              </a:defRPr>
            </a:pPr>
            <a:r>
              <a:rPr sz="1425" b="0">
                <a:solidFill>
                  <a:srgbClr val="5D7482"/>
                </a:solidFill>
              </a:rPr>
              <a:t>• 1개 제품을 2개 탱크 / 6개 배치로 분할 생산</a:t>
            </a:r>
          </a:p>
          <a:p xmlns:a="http://schemas.openxmlformats.org/drawingml/2006/main">
            <a:pPr algn="l">
              <a:defRPr sz="1425" b="0">
                <a:solidFill>
                  <a:srgbClr val="5D7482"/>
                </a:solidFill>
              </a:defRPr>
            </a:pPr>
            <a:r>
              <a:rPr sz="1425" b="0">
                <a:solidFill>
                  <a:srgbClr val="5D7482"/>
                </a:solidFill>
              </a:rPr>
              <a:t>• 4시간 배합 후 8시간 QC 필요</a:t>
            </a:r>
          </a:p>
          <a:p xmlns:a="http://schemas.openxmlformats.org/drawingml/2006/main">
            <a:pPr algn="l">
              <a:defRPr sz="1425" b="0">
                <a:solidFill>
                  <a:srgbClr val="5D7482"/>
                </a:solidFill>
              </a:defRPr>
            </a:pPr>
            <a:r>
              <a:rPr sz="1425" b="0">
                <a:solidFill>
                  <a:srgbClr val="5D7482"/>
                </a:solidFill>
              </a:rPr>
              <a:t>• 같은 블렌더에는 최소 gap 필요</a:t>
            </a:r>
          </a:p>
          <a:p xmlns:a="http://schemas.openxmlformats.org/drawingml/2006/main">
            <a:pPr algn="l">
              <a:defRPr sz="1425" b="0">
                <a:solidFill>
                  <a:srgbClr val="5D7482"/>
                </a:solidFill>
              </a:defRPr>
            </a:pPr>
            <a:r>
              <a:rPr sz="1425" b="0">
                <a:solidFill>
                  <a:srgbClr val="5D7482"/>
                </a:solidFill>
              </a:rPr>
              <a:t>• 탱크에는 deadstock가 남아 다음 품질에 영향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35335-14C7-4144-800F-95450407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09700"/>
            <a:ext cx="556260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F198E-540C-4BC6-B08A-CF2864E4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546"/>
                </a:solidFill>
              </a:defRPr>
            </a:pPr>
            <a:r>
              <a:rPr sz="1800" b="1">
                <a:solidFill>
                  <a:srgbClr val="183546"/>
                </a:solidFill>
              </a:rPr>
              <a:t>실제 계획 수립 시 함께 고려해야 하는 항목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3AE18-2C86-446C-9B84-274EB98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AA414-2511-4FF8-8ED5-BB03082B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546"/>
                </a:solidFill>
              </a:defRPr>
            </a:pPr>
            <a:r>
              <a:rPr sz="1350" b="1">
                <a:solidFill>
                  <a:srgbClr val="183546"/>
                </a:solidFill>
              </a:rPr>
              <a:t>판매계획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DE6AE-5A60-4FF0-A1D6-99F68DE2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482"/>
                </a:solidFill>
              </a:defRPr>
            </a:pPr>
            <a:r>
              <a:rPr sz="1200" b="0">
                <a:solidFill>
                  <a:srgbClr val="5D7482"/>
                </a:solidFill>
              </a:rPr>
              <a:t>Due date, volume, export/domestic mix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61042-2EF9-4405-B128-4D046BE5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1940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054D9-1365-4C23-991F-FB607F38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546"/>
                </a:solidFill>
              </a:defRPr>
            </a:pPr>
            <a:r>
              <a:rPr sz="1350" b="1">
                <a:solidFill>
                  <a:srgbClr val="183546"/>
                </a:solidFill>
              </a:rPr>
              <a:t>품질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6BFF6-489D-4486-8AAD-8F339D1D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482"/>
                </a:solidFill>
              </a:defRPr>
            </a:pPr>
            <a:r>
              <a:rPr sz="1200" b="0">
                <a:solidFill>
                  <a:srgbClr val="5D7482"/>
                </a:solidFill>
              </a:rPr>
              <a:t>RON, RVP, Density, Sulfur, Olefin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FD829-44BE-4922-98F4-EDE0E18D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480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95FB9-C8B7-4D63-8B59-578A09E5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546"/>
                </a:solidFill>
              </a:defRPr>
            </a:pPr>
            <a:r>
              <a:rPr sz="1350" b="1">
                <a:solidFill>
                  <a:srgbClr val="183546"/>
                </a:solidFill>
              </a:rPr>
              <a:t>탱크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CC879-F0FA-4A2D-856C-E1B8C25B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623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482"/>
                </a:solidFill>
              </a:defRPr>
            </a:pPr>
            <a:r>
              <a:rPr sz="1200" b="0">
                <a:solidFill>
                  <a:srgbClr val="5D7482"/>
                </a:solidFill>
              </a:rPr>
              <a:t>용량, 초기 heel, 탱크 재사용 순서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88492-965A-4761-9420-49051F8B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56B6C-5B72-47F2-B872-ECF194F7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910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546"/>
                </a:solidFill>
              </a:defRPr>
            </a:pPr>
            <a:r>
              <a:rPr sz="1350" b="1">
                <a:solidFill>
                  <a:srgbClr val="183546"/>
                </a:solidFill>
              </a:rPr>
              <a:t>반제품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783C0-5279-49E6-9688-753326E8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482"/>
                </a:solidFill>
              </a:defRPr>
            </a:pPr>
            <a:r>
              <a:rPr sz="1200" b="0">
                <a:solidFill>
                  <a:srgbClr val="5D7482"/>
                </a:solidFill>
              </a:rPr>
              <a:t>재고, rundown, 원가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8663AE-536C-4BC6-8596-8261F1CC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053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4D80CC-CB34-46AA-B26D-8FAEDB51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96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546"/>
                </a:solidFill>
              </a:defRPr>
            </a:pPr>
            <a:r>
              <a:rPr sz="1350" b="1">
                <a:solidFill>
                  <a:srgbClr val="183546"/>
                </a:solidFill>
              </a:rPr>
              <a:t>운영 제약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E316C9-A06B-4C81-AD43-A37A98A3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196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482"/>
                </a:solidFill>
              </a:defRPr>
            </a:pPr>
            <a:r>
              <a:rPr sz="1200" b="0">
                <a:solidFill>
                  <a:srgbClr val="5D7482"/>
                </a:solidFill>
              </a:rPr>
              <a:t>QC, blender gap, carryover contamination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9BFB07-8441-4C81-AD24-4CBA0416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482"/>
                </a:solidFill>
              </a:defRPr>
            </a:pPr>
            <a:r>
              <a:rPr sz="900" b="0">
                <a:solidFill>
                  <a:srgbClr val="5D7482"/>
                </a:solidFill>
              </a:rPr>
              <a:t>Refinery Batch Scheduling | Executive Summary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AF5DBF-8F33-410D-80D5-28AD5D19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482"/>
                </a:solidFill>
              </a:defRPr>
            </a:pPr>
            <a:r>
              <a:rPr sz="900" b="0">
                <a:solidFill>
                  <a:srgbClr val="5D748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482280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77825D-0196-4E30-BC6F-FC9598E80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2374A-CE57-461D-B128-3A1923B1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2DC40-1E26-4F2F-A04B-5A61FC5A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27D30-53C7-456C-B1B2-7849C7F5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86D"/>
                </a:solidFill>
              </a:defRPr>
            </a:pPr>
            <a:r>
              <a:rPr sz="1200" b="1">
                <a:solidFill>
                  <a:srgbClr val="31586D"/>
                </a:solidFill>
              </a:rPr>
              <a:t>Algorithm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7B006-F7EF-43DE-9006-7023A872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546"/>
                </a:solidFill>
              </a:defRPr>
            </a:pPr>
            <a:r>
              <a:rPr sz="2250" b="1">
                <a:solidFill>
                  <a:srgbClr val="183546"/>
                </a:solidFill>
              </a:rPr>
              <a:t>어떻게 풀고 있는가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44FB8-73A6-4B9E-8A06-CC7EAFA9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24574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B0874-87E7-4339-A39C-CC48BEC7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546"/>
                </a:solidFill>
              </a:defRPr>
            </a:pPr>
            <a:r>
              <a:rPr sz="1650" b="1">
                <a:solidFill>
                  <a:srgbClr val="183546"/>
                </a:solidFill>
              </a:rPr>
              <a:t>1. Master MILP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30773-7C46-4F5E-B16E-C0AAC167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482"/>
                </a:solidFill>
              </a:defRPr>
            </a:pPr>
            <a:r>
              <a:rPr sz="1275" b="0">
                <a:solidFill>
                  <a:srgbClr val="5D7482"/>
                </a:solidFill>
              </a:rPr>
              <a:t>주문 시작 시점, 탱크 조합, 반제품 투입량 결정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2A0C5-B509-49EF-A6ED-9D73A50C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43250"/>
            <a:ext cx="3619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E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617C1-AE11-4E09-BA62-CFBE3653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4574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C8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ABE13-A24C-469C-9703-2F00AC72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527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546"/>
                </a:solidFill>
              </a:defRPr>
            </a:pPr>
            <a:r>
              <a:rPr sz="1650" b="1">
                <a:solidFill>
                  <a:srgbClr val="183546"/>
                </a:solidFill>
              </a:rPr>
              <a:t>2. Tank Resequencing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0C1E9-A426-4F14-9F88-0CEF6BFE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289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482"/>
                </a:solidFill>
              </a:defRPr>
            </a:pPr>
            <a:r>
              <a:rPr sz="1275" b="0">
                <a:solidFill>
                  <a:srgbClr val="5D7482"/>
                </a:solidFill>
              </a:rPr>
              <a:t>carryover contamination을 줄이도록 탱크 사용 순서 보정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8EB6A-399C-4935-A7D6-59DB5AB5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43250"/>
            <a:ext cx="3619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E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6FF6C-7E3E-4C60-90AE-0899ED40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24574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921B3-B5B8-4700-A7D3-3186A8E0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546"/>
                </a:solidFill>
              </a:defRPr>
            </a:pPr>
            <a:r>
              <a:rPr sz="1650" b="1">
                <a:solidFill>
                  <a:srgbClr val="183546"/>
                </a:solidFill>
              </a:rPr>
              <a:t>3. Batch Timing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4B3DE-1640-4D9E-AC7B-A70EBB4C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482"/>
                </a:solidFill>
              </a:defRPr>
            </a:pPr>
            <a:r>
              <a:rPr sz="1275" b="0">
                <a:solidFill>
                  <a:srgbClr val="5D7482"/>
                </a:solidFill>
              </a:rPr>
              <a:t>4h 배합 + 8h QC + blender gap 반영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DA72A3-FCBD-4B52-9948-C000AC84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3619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E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0DBFB-EEA8-486C-AF30-2C357B1C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86000"/>
            <a:ext cx="24574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C8D6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94EBF5-3B3E-45B7-97A1-62BAECE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527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546"/>
                </a:solidFill>
              </a:defRPr>
            </a:pPr>
            <a:r>
              <a:rPr sz="1650" b="1">
                <a:solidFill>
                  <a:srgbClr val="183546"/>
                </a:solidFill>
              </a:rPr>
              <a:t>4. Deadstock + Repair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2D3AD-6C5A-44A9-9A7A-F6BFBE3C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482"/>
                </a:solidFill>
              </a:defRPr>
            </a:pPr>
            <a:r>
              <a:rPr sz="1275" b="0">
                <a:solidFill>
                  <a:srgbClr val="5D7482"/>
                </a:solidFill>
              </a:rPr>
              <a:t>heel 반영 성상 재계산과 inventory shortage repair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1FE601-227F-4FC6-BF10-FB992752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86D"/>
                </a:solidFill>
              </a:defRPr>
            </a:pPr>
            <a:r>
              <a:rPr sz="1650" b="1">
                <a:solidFill>
                  <a:srgbClr val="31586D"/>
                </a:solidFill>
              </a:rPr>
              <a:t>핵심 설계 철학: 정확한 전역 MINLP보다, 빠르고 설명 가능한 실무형 배치 계획과 재고 안정성을 우선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38826B-115B-495E-9852-9AB06E6C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482"/>
                </a:solidFill>
              </a:defRPr>
            </a:pPr>
            <a:r>
              <a:rPr sz="900" b="0">
                <a:solidFill>
                  <a:srgbClr val="5D7482"/>
                </a:solidFill>
              </a:rPr>
              <a:t>Refinery Batch Scheduling | Executive Summary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93343A-C95E-407D-B20A-4F5C26C2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482"/>
                </a:solidFill>
              </a:defRPr>
            </a:pPr>
            <a:r>
              <a:rPr sz="900" b="0">
                <a:solidFill>
                  <a:srgbClr val="5D7482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810781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77825D-0196-4E30-BC6F-FC9598E80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0AC35-2E4D-4B4F-B544-74B1116C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3BC97-D21D-4B07-9F71-0FE71085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54075-BD6B-48BB-91DE-5599586D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86D"/>
                </a:solidFill>
              </a:defRPr>
            </a:pPr>
            <a:r>
              <a:rPr sz="1200" b="1">
                <a:solidFill>
                  <a:srgbClr val="31586D"/>
                </a:solidFill>
              </a:rPr>
              <a:t>User-Facing Deliverables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10C06-D97F-443F-9246-FACF4EE8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546"/>
                </a:solidFill>
              </a:defRPr>
            </a:pPr>
            <a:r>
              <a:rPr sz="2250" b="1">
                <a:solidFill>
                  <a:srgbClr val="183546"/>
                </a:solidFill>
              </a:rPr>
              <a:t>현재 도구가 제공하는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DF63C-03E6-454A-B51D-C02DC02C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518160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DB7C8-346D-439E-AE83-D94C6A6A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09700"/>
            <a:ext cx="525780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3B996-EFA3-4293-AD46-75F2E306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546"/>
                </a:solidFill>
              </a:defRPr>
            </a:pPr>
            <a:r>
              <a:rPr sz="1800" b="1">
                <a:solidFill>
                  <a:srgbClr val="183546"/>
                </a:solidFill>
              </a:rPr>
              <a:t>입력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C5B30-ECC7-470C-AAED-F9A10FE3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91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• Input Center에서 입력 요약 확인</a:t>
            </a:r>
          </a:p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• General Settings를 테이블로 일괄 편집</a:t>
            </a:r>
          </a:p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• Excel 파일로 Settings / Orders / Blendstocks / Tanks 업로드</a:t>
            </a:r>
          </a:p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• 주문 / 반제품 / 탱크 직접 수정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8FE48-92A3-4E53-AAD6-3751FDC3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95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546"/>
                </a:solidFill>
              </a:defRPr>
            </a:pPr>
            <a:r>
              <a:rPr sz="1800" b="1">
                <a:solidFill>
                  <a:srgbClr val="183546"/>
                </a:solidFill>
              </a:rPr>
              <a:t>결과 화면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60B1A-39C1-4B70-A98D-CC568F46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• Campaign Gantt</a:t>
            </a:r>
          </a:p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• Batch Detail</a:t>
            </a:r>
          </a:p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• Tank Level Profile</a:t>
            </a:r>
          </a:p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• Inventory Profile</a:t>
            </a:r>
          </a:p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• 주문/슬랙/반제품 사용량 + Runtime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79FF6-15BF-4F1A-BA0F-E03438F2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4686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22335-F3D1-4E49-B5CF-D661E8C1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4171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586D"/>
                </a:solidFill>
              </a:defRPr>
            </a:pPr>
            <a:r>
              <a:rPr sz="1275" b="0">
                <a:solidFill>
                  <a:srgbClr val="31586D"/>
                </a:solidFill>
              </a:rPr>
              <a:t>Batch Detail에서는 heel 성상, 배합 후 성상, target 성상을 한 화면에서 비교할 수 있으며 마지막 배치 spec 위반은 바로 강조 표시된다.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A2525-4BF8-4611-8536-FE56EAAA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053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AA89B-D44E-4710-AC3C-FA7CB4AB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4171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586D"/>
                </a:solidFill>
              </a:defRPr>
            </a:pPr>
            <a:r>
              <a:rPr sz="1275" b="0">
                <a:solidFill>
                  <a:srgbClr val="31586D"/>
                </a:solidFill>
              </a:rPr>
              <a:t>현재 기본 예시는 2개월 horizon, 총 70건 주문과 420개 배치를 대상으로 약 30초 수준에서 재계산할 수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B4FCE-5B9C-4F49-A1BF-F6463399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482"/>
                </a:solidFill>
              </a:defRPr>
            </a:pPr>
            <a:r>
              <a:rPr sz="900" b="0">
                <a:solidFill>
                  <a:srgbClr val="5D7482"/>
                </a:solidFill>
              </a:rPr>
              <a:t>Refinery Batch Scheduling | Executive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1163F-6603-46ED-A7F3-AE73A9F0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482"/>
                </a:solidFill>
              </a:defRPr>
            </a:pPr>
            <a:r>
              <a:rPr sz="900" b="0">
                <a:solidFill>
                  <a:srgbClr val="5D7482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663292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77825D-0196-4E30-BC6F-FC9598E80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03641-E484-4DC8-B3C6-1AA02B8C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0975D-F963-42F0-9E37-78109F5D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DA805-2166-4DD9-B494-AC4ACC8E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86D"/>
                </a:solidFill>
              </a:defRPr>
            </a:pPr>
            <a:r>
              <a:rPr sz="1200" b="1">
                <a:solidFill>
                  <a:srgbClr val="31586D"/>
                </a:solidFill>
              </a:rPr>
              <a:t>Value &amp;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4A5F6-8195-4D5A-9032-553F7A81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546"/>
                </a:solidFill>
              </a:defRPr>
            </a:pPr>
            <a:r>
              <a:rPr sz="2250" b="1">
                <a:solidFill>
                  <a:srgbClr val="183546"/>
                </a:solidFill>
              </a:rPr>
              <a:t>실무 활용 가치와 확장 방향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E19F6-5BE3-4DCB-A531-BF4FE68A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2197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2250A-8D01-42BF-AC92-64759A0E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66850"/>
            <a:ext cx="52197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9ADD9-2D2D-4834-A4E6-22EBC4D5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546"/>
                </a:solidFill>
              </a:defRPr>
            </a:pPr>
            <a:r>
              <a:rPr sz="1800" b="1">
                <a:solidFill>
                  <a:srgbClr val="183546"/>
                </a:solidFill>
              </a:rPr>
              <a:t>실무 활용 가치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A353E-F264-4047-BF00-51C3A1F0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4095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• 판매계획 변경 시 빠른 재시뮬레이션</a:t>
            </a:r>
          </a:p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• deadstock/heel 영향 정량화</a:t>
            </a:r>
          </a:p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• 재고 shortage를 0 미만으로 두지 않는 방향의 보정</a:t>
            </a:r>
          </a:p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• 설명 가능한 운영 대안 도출</a:t>
            </a:r>
          </a:p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• 현장 커뮤니케이션용 시각화 제공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336C4-574A-4507-8AF5-696240DB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546"/>
                </a:solidFill>
              </a:defRPr>
            </a:pPr>
            <a:r>
              <a:rPr sz="1800" b="1">
                <a:solidFill>
                  <a:srgbClr val="183546"/>
                </a:solidFill>
              </a:rPr>
              <a:t>확장 방향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B68C1-57E5-4ACC-8F12-A1274284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095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• inventory overflow repair 추가</a:t>
            </a:r>
          </a:p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• insertion / block move 기반 local search 강화</a:t>
            </a:r>
          </a:p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• berth / vessel scheduling 연계</a:t>
            </a:r>
          </a:p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• scenario library 및 결과 비교</a:t>
            </a:r>
          </a:p>
          <a:p xmlns:a="http://schemas.openxmlformats.org/drawingml/2006/main">
            <a:pPr algn="l">
              <a:defRPr sz="1350" b="0">
                <a:solidFill>
                  <a:srgbClr val="5D7482"/>
                </a:solidFill>
              </a:defRPr>
            </a:pPr>
            <a:r>
              <a:rPr sz="1350" b="0">
                <a:solidFill>
                  <a:srgbClr val="5D7482"/>
                </a:solidFill>
              </a:rPr>
              <a:t>• contamination / tank cleaning 모델 확장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C3AFB-2D0C-4354-84A4-9E0F3E77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10248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6E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DC06F-9FA0-41CF-A994-BA5B5F88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29175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86D"/>
                </a:solidFill>
              </a:defRPr>
            </a:pPr>
            <a:r>
              <a:rPr sz="1500" b="1">
                <a:solidFill>
                  <a:srgbClr val="31586D"/>
                </a:solidFill>
              </a:rPr>
              <a:t>권장 활용 방식: 정답을 하나 고정하는 용도보다, 여러 운영 시나리오를 빠르게 비교하며 계획 후보를 압축하는 실무형 의사결정 지원 도구로 활용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614A7-3A66-4484-A6C7-5954D35D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482"/>
                </a:solidFill>
              </a:defRPr>
            </a:pPr>
            <a:r>
              <a:rPr sz="900" b="0">
                <a:solidFill>
                  <a:srgbClr val="5D7482"/>
                </a:solidFill>
              </a:rPr>
              <a:t>Refinery Batch Scheduling | Executive Summary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38EB7-12C6-4A06-B461-20839B50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482"/>
                </a:solidFill>
              </a:defRPr>
            </a:pPr>
            <a:r>
              <a:rPr sz="900" b="0">
                <a:solidFill>
                  <a:srgbClr val="5D7482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544331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2026-04-19T13:47:32.7050000Z</dcterms:created>
  <dcterms:modified xsi:type="dcterms:W3CDTF">2026-04-19T13:47:32.7050000Z</dcterms:modified>
</coreProperties>
</file>